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7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8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5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3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2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5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17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8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3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90552-DCC3-4D35-8C9D-3928D1A7FB4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27C9A-6277-4220-8CE6-43ECA69E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9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pPr>
              <a:defRPr sz="2800"/>
            </a:pPr>
            <a:r>
              <a:rPr lang="en-US" b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Database Management Systems</a:t>
            </a:r>
            <a:br>
              <a:rPr lang="en-US" b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(CO1 Assessment Tool 3)</a:t>
            </a:r>
            <a:br>
              <a:rPr lang="en-US" b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TECHNICAL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D.Naveen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192511401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CSE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CSA0508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Name:Database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 System</a:t>
            </a:r>
          </a:p>
          <a:p>
            <a:pPr>
              <a:defRPr sz="2200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 sz="22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22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ER Diagram for Online Library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Introduction</a:t>
            </a:r>
          </a:p>
          <a:p>
            <a:r>
              <a:rPr lang="en-US" dirty="0"/>
              <a:t>An Online Library Management System (OLMS) manages books, members, borrowing, returns, and fines using a centralized database.</a:t>
            </a:r>
          </a:p>
          <a:p>
            <a:r>
              <a:rPr lang="en-US" dirty="0"/>
              <a:t>A DBMS improves accuracy, security, and efficiency compared with manual record-keeping.</a:t>
            </a:r>
          </a:p>
          <a:p>
            <a:r>
              <a:rPr lang="en-US" dirty="0"/>
              <a:t> The ER model provides the conceptual design before database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90372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86" y="1848157"/>
            <a:ext cx="63246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6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Database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Database Design Converts The Entity Relationship (ER) Model Into A Structured Relational Database. Each Entity Is Represented As A Table, While Relationships Are Maintained Using Primary Keys (PK) And Foreign Keys (FK). The Design Follows Normalization Principles To Reduce Data Redundancy, Improve Data Integrity, And Support Efficient Storage And Retrieval.</a:t>
            </a:r>
          </a:p>
        </p:txBody>
      </p:sp>
    </p:spTree>
    <p:extLst>
      <p:ext uri="{BB962C8B-B14F-4D97-AF65-F5344CB8AC3E}">
        <p14:creationId xmlns:p14="http://schemas.microsoft.com/office/powerpoint/2010/main" val="303422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STUDY: NATIONAL DIGITAL LIBRARY OF INDIA (NDLI)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107994" cy="50323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Overview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Developed by IIT Kharagpur under the Ministry of Education, Government of India.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One of India’s largest digital library platforms providing educational resources.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Role of DBMS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Stores books, users, authors, publishers, and borrowing records.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Uses a relational database to ensure fast search, secure access, and efficient data management.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Maintains data integrity using Primary Keys and Foreign Keys.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Key Benefits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📚 Centralized digital resource management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⚡ Fast book search and retrieval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🔒 Secure and reliable data storage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* 📈 Supports millions of users and educational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9869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Q2: Enhanced 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206" y="1690688"/>
            <a:ext cx="10955594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INTRODUCTION</a:t>
            </a:r>
          </a:p>
          <a:p>
            <a:pPr marL="0" indent="0">
              <a:buNone/>
            </a:pPr>
            <a:r>
              <a:rPr lang="en-US" sz="1400" dirty="0"/>
              <a:t>* It represents complex real-world data more effectively than a basic ER model.</a:t>
            </a:r>
          </a:p>
          <a:p>
            <a:pPr marL="0" indent="0">
              <a:buNone/>
            </a:pPr>
            <a:r>
              <a:rPr lang="en-US" sz="1400" dirty="0"/>
              <a:t>* EER extends ER by introducing Generalization, Specialization, Inheritance, and Aggregation.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Why EER?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* Models hierarchical relationships between entities.</a:t>
            </a:r>
          </a:p>
          <a:p>
            <a:pPr marL="0" indent="0">
              <a:buNone/>
            </a:pPr>
            <a:r>
              <a:rPr lang="en-US" sz="1400" dirty="0"/>
              <a:t>* Reduces design complexity in large database systems.</a:t>
            </a:r>
          </a:p>
          <a:p>
            <a:pPr marL="0" indent="0">
              <a:buNone/>
            </a:pPr>
            <a:r>
              <a:rPr lang="en-US" sz="1400" dirty="0"/>
              <a:t>* Improves database flexibility and scalability.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Applications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* University Management Systems</a:t>
            </a:r>
          </a:p>
          <a:p>
            <a:pPr marL="0" indent="0">
              <a:buNone/>
            </a:pPr>
            <a:r>
              <a:rPr lang="en-US" sz="1400" dirty="0"/>
              <a:t>* Banking Systems</a:t>
            </a:r>
          </a:p>
          <a:p>
            <a:pPr marL="0" indent="0">
              <a:buNone/>
            </a:pPr>
            <a:r>
              <a:rPr lang="en-US" sz="1400" dirty="0"/>
              <a:t>* Hospital Management</a:t>
            </a:r>
          </a:p>
          <a:p>
            <a:pPr marL="0" indent="0">
              <a:buNone/>
            </a:pPr>
            <a:r>
              <a:rPr lang="en-US" sz="1400" dirty="0"/>
              <a:t>* E-Commerce Platforms</a:t>
            </a:r>
          </a:p>
        </p:txBody>
      </p:sp>
    </p:spTree>
    <p:extLst>
      <p:ext uri="{BB962C8B-B14F-4D97-AF65-F5344CB8AC3E}">
        <p14:creationId xmlns:p14="http://schemas.microsoft.com/office/powerpoint/2010/main" val="295849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ER Model vs Enhanced ER (EER) Model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109741"/>
              </p:ext>
            </p:extLst>
          </p:nvPr>
        </p:nvGraphicFramePr>
        <p:xfrm>
          <a:off x="838200" y="1690688"/>
          <a:ext cx="10515600" cy="5029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742218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ER Model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Enhanced ER (EER) Model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Definition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model used to design relational databases.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 extension of the ER model for complex database design.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93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 Components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Entities, Attributes,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Entities, Attributes, Relationships, Generalization, Specialization, Inheritance, Aggregation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605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Complexity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Suitable for simple databases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Suitable for complex and large-scale databases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58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Hierarchy Support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Does not support hierarchical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hierarchical relationships using superclass and subclass concepts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Flexibility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flexible and 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Applications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library systems, student databases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Banking, Healthcare, University Management, E-commerce, Enterprise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08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4258" y="1690688"/>
            <a:ext cx="43434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3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Advantages &amp; Applications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84759"/>
            <a:ext cx="8040329" cy="463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Advantages</a:t>
            </a:r>
          </a:p>
          <a:p>
            <a:r>
              <a:rPr lang="en-US" sz="1800" dirty="0"/>
              <a:t>Better data modeling </a:t>
            </a:r>
          </a:p>
          <a:p>
            <a:r>
              <a:rPr lang="en-US" sz="1800" dirty="0"/>
              <a:t>Reduces redundancy </a:t>
            </a:r>
          </a:p>
          <a:p>
            <a:r>
              <a:rPr lang="en-US" sz="1800" dirty="0"/>
              <a:t>Easy maintenance </a:t>
            </a:r>
          </a:p>
          <a:p>
            <a:r>
              <a:rPr lang="en-US" sz="1800" dirty="0"/>
              <a:t>Flexible design </a:t>
            </a:r>
          </a:p>
          <a:p>
            <a:r>
              <a:rPr lang="en-US" sz="1800" b="1" dirty="0"/>
              <a:t>Limitations</a:t>
            </a:r>
          </a:p>
          <a:p>
            <a:r>
              <a:rPr lang="en-US" sz="1800" dirty="0"/>
              <a:t>Complex implementation </a:t>
            </a:r>
          </a:p>
          <a:p>
            <a:r>
              <a:rPr lang="en-US" sz="1800" dirty="0"/>
              <a:t>Higher design cost </a:t>
            </a:r>
          </a:p>
          <a:p>
            <a:r>
              <a:rPr lang="en-US" sz="1800" b="1" dirty="0"/>
              <a:t>Industrial Applications</a:t>
            </a:r>
          </a:p>
          <a:p>
            <a:r>
              <a:rPr lang="en-US" sz="1800" dirty="0"/>
              <a:t>ERP </a:t>
            </a:r>
          </a:p>
          <a:p>
            <a:r>
              <a:rPr lang="en-US" sz="1800" dirty="0"/>
              <a:t>Banking </a:t>
            </a:r>
          </a:p>
          <a:p>
            <a:r>
              <a:rPr lang="en-US" sz="1800" dirty="0"/>
              <a:t>Healthcare</a:t>
            </a:r>
          </a:p>
        </p:txBody>
      </p:sp>
    </p:spTree>
    <p:extLst>
      <p:ext uri="{BB962C8B-B14F-4D97-AF65-F5344CB8AC3E}">
        <p14:creationId xmlns:p14="http://schemas.microsoft.com/office/powerpoint/2010/main" val="2922661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3: Data Independence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 is Data Independence?</a:t>
            </a:r>
          </a:p>
          <a:p>
            <a:r>
              <a:rPr lang="en-US" dirty="0"/>
              <a:t>Ability to modify database schema without affecting applications.</a:t>
            </a:r>
          </a:p>
          <a:p>
            <a:r>
              <a:rPr lang="en-US" b="1" dirty="0"/>
              <a:t>Types</a:t>
            </a:r>
          </a:p>
          <a:p>
            <a:r>
              <a:rPr lang="en-US" dirty="0"/>
              <a:t>Logical Data Independence </a:t>
            </a:r>
          </a:p>
          <a:p>
            <a:r>
              <a:rPr lang="en-US" dirty="0"/>
              <a:t>Physical Data Independence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Easy maintenance </a:t>
            </a:r>
          </a:p>
          <a:p>
            <a:r>
              <a:rPr lang="en-US" dirty="0"/>
              <a:t>Scalability </a:t>
            </a:r>
          </a:p>
          <a:p>
            <a:r>
              <a:rPr lang="en-US" dirty="0"/>
              <a:t>Flexibility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86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ANSI/SPARC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5057" y="1825625"/>
            <a:ext cx="45618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0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Logical </a:t>
            </a:r>
            <a:r>
              <a:rPr lang="en-US" dirty="0" err="1"/>
              <a:t>vs</a:t>
            </a:r>
            <a:r>
              <a:rPr lang="en-US" dirty="0"/>
              <a:t> Physical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526528"/>
              </p:ext>
            </p:extLst>
          </p:nvPr>
        </p:nvGraphicFramePr>
        <p:xfrm>
          <a:off x="1324896" y="1826733"/>
          <a:ext cx="9028472" cy="270102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4683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5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525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dirty="0"/>
                        <a:t>Logical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dirty="0"/>
                        <a:t>Physical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256"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Changes schema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Changes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256"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Users unaffected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Programs unaffected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256"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Easier 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Better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503126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Examples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new attribute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Change storage device </a:t>
            </a:r>
          </a:p>
        </p:txBody>
      </p:sp>
    </p:spTree>
    <p:extLst>
      <p:ext uri="{BB962C8B-B14F-4D97-AF65-F5344CB8AC3E}">
        <p14:creationId xmlns:p14="http://schemas.microsoft.com/office/powerpoint/2010/main" val="4050394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 Industry Uses</a:t>
            </a:r>
          </a:p>
          <a:p>
            <a:r>
              <a:rPr lang="en-US" dirty="0"/>
              <a:t>Oracle </a:t>
            </a:r>
          </a:p>
          <a:p>
            <a:r>
              <a:rPr lang="en-US" dirty="0"/>
              <a:t>SQL Server </a:t>
            </a:r>
          </a:p>
          <a:p>
            <a:r>
              <a:rPr lang="en-US" dirty="0" err="1"/>
              <a:t>PostgreSQL</a:t>
            </a:r>
            <a:r>
              <a:rPr lang="en-US" dirty="0"/>
              <a:t> </a:t>
            </a:r>
          </a:p>
          <a:p>
            <a:r>
              <a:rPr lang="en-US" dirty="0"/>
              <a:t>MySQL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  Advantages</a:t>
            </a:r>
          </a:p>
          <a:p>
            <a:r>
              <a:rPr lang="en-US" dirty="0"/>
              <a:t>Easy upgrades </a:t>
            </a:r>
          </a:p>
          <a:p>
            <a:r>
              <a:rPr lang="en-US" dirty="0"/>
              <a:t>Data security </a:t>
            </a:r>
          </a:p>
          <a:p>
            <a:r>
              <a:rPr lang="en-US" dirty="0"/>
              <a:t>Cloud migration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    Future</a:t>
            </a:r>
          </a:p>
          <a:p>
            <a:r>
              <a:rPr lang="en-US" dirty="0"/>
              <a:t>Autonomous Databases </a:t>
            </a:r>
          </a:p>
          <a:p>
            <a:r>
              <a:rPr lang="en-US" dirty="0"/>
              <a:t>Cloud DBMS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63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4: Software Components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Introduction</a:t>
            </a:r>
          </a:p>
          <a:p>
            <a:pPr marL="0" indent="0">
              <a:buNone/>
            </a:pPr>
            <a:r>
              <a:rPr lang="en-US" b="1" dirty="0"/>
              <a:t>  Software Components</a:t>
            </a:r>
          </a:p>
          <a:p>
            <a:r>
              <a:rPr lang="en-US" dirty="0"/>
              <a:t>Main modules inside a DBMS.</a:t>
            </a:r>
          </a:p>
          <a:p>
            <a:pPr marL="0" indent="0">
              <a:buNone/>
            </a:pPr>
            <a:r>
              <a:rPr lang="en-US" b="1" dirty="0"/>
              <a:t>  Purpose</a:t>
            </a:r>
          </a:p>
          <a:p>
            <a:r>
              <a:rPr lang="en-US" dirty="0"/>
              <a:t>Query execution </a:t>
            </a:r>
          </a:p>
          <a:p>
            <a:r>
              <a:rPr lang="en-US" dirty="0"/>
              <a:t>Storage management </a:t>
            </a:r>
          </a:p>
          <a:p>
            <a:r>
              <a:rPr lang="en-US" dirty="0"/>
              <a:t>Security </a:t>
            </a:r>
          </a:p>
          <a:p>
            <a:r>
              <a:rPr lang="en-US" dirty="0"/>
              <a:t>Recovery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749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1144" y="1825625"/>
            <a:ext cx="5569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75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75701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DBMS MODULE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152983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 Processor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Execute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Buffer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Memory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File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Transaction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Recovery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Crash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50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INDUSTRIAL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Popular DBMS</a:t>
            </a:r>
          </a:p>
          <a:p>
            <a:r>
              <a:rPr lang="en-US" dirty="0"/>
              <a:t>Oracle </a:t>
            </a:r>
          </a:p>
          <a:p>
            <a:r>
              <a:rPr lang="en-US" dirty="0"/>
              <a:t>MySQL </a:t>
            </a:r>
          </a:p>
          <a:p>
            <a:r>
              <a:rPr lang="en-US" dirty="0" err="1"/>
              <a:t>PostgreSQL</a:t>
            </a:r>
            <a:r>
              <a:rPr lang="en-US" dirty="0"/>
              <a:t> </a:t>
            </a:r>
          </a:p>
          <a:p>
            <a:r>
              <a:rPr lang="en-US" dirty="0"/>
              <a:t>SQL Server </a:t>
            </a:r>
          </a:p>
          <a:p>
            <a:r>
              <a:rPr lang="en-US" dirty="0"/>
              <a:t>MongoDB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Future</a:t>
            </a:r>
          </a:p>
          <a:p>
            <a:r>
              <a:rPr lang="en-US" dirty="0"/>
              <a:t>AI Optimization </a:t>
            </a:r>
          </a:p>
          <a:p>
            <a:r>
              <a:rPr lang="en-US" dirty="0"/>
              <a:t>Cloud DBMS </a:t>
            </a:r>
          </a:p>
          <a:p>
            <a:r>
              <a:rPr lang="en-US" dirty="0"/>
              <a:t>Distributed Systems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443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5: Strong Entity </a:t>
            </a:r>
            <a:r>
              <a:rPr lang="en-US" dirty="0" err="1"/>
              <a:t>vs</a:t>
            </a:r>
            <a:r>
              <a:rPr lang="en-US" dirty="0"/>
              <a:t> Weak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Introduction</a:t>
            </a:r>
          </a:p>
          <a:p>
            <a:pPr marL="0" indent="0">
              <a:buNone/>
            </a:pPr>
            <a:r>
              <a:rPr lang="en-US" b="1" dirty="0"/>
              <a:t> Strong Entity</a:t>
            </a:r>
          </a:p>
          <a:p>
            <a:r>
              <a:rPr lang="en-US" dirty="0"/>
              <a:t>Has Primary Key </a:t>
            </a:r>
          </a:p>
          <a:p>
            <a:r>
              <a:rPr lang="en-US" dirty="0"/>
              <a:t>Exists independently </a:t>
            </a:r>
          </a:p>
          <a:p>
            <a:pPr marL="0" indent="0">
              <a:buNone/>
            </a:pPr>
            <a:r>
              <a:rPr lang="en-US" b="1" dirty="0"/>
              <a:t> Weak Entity</a:t>
            </a:r>
          </a:p>
          <a:p>
            <a:r>
              <a:rPr lang="en-US" dirty="0"/>
              <a:t>No Primary Key </a:t>
            </a:r>
          </a:p>
          <a:p>
            <a:r>
              <a:rPr lang="en-US" dirty="0"/>
              <a:t>Depends on Strong Entity</a:t>
            </a:r>
          </a:p>
        </p:txBody>
      </p:sp>
    </p:spTree>
    <p:extLst>
      <p:ext uri="{BB962C8B-B14F-4D97-AF65-F5344CB8AC3E}">
        <p14:creationId xmlns:p14="http://schemas.microsoft.com/office/powerpoint/2010/main" val="989582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2105819"/>
            <a:ext cx="91440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57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COMPARISION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507485"/>
              </p:ext>
            </p:extLst>
          </p:nvPr>
        </p:nvGraphicFramePr>
        <p:xfrm>
          <a:off x="1047205" y="2022341"/>
          <a:ext cx="10515600" cy="1828800"/>
        </p:xfrm>
        <a:graphic>
          <a:graphicData uri="http://schemas.openxmlformats.org/drawingml/2006/table">
            <a:tbl>
              <a:tblPr/>
              <a:tblGrid>
                <a:gridCol w="474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Weak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Own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Single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Double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Total participation not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participation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47205" y="441547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Examples</a:t>
            </a:r>
          </a:p>
          <a:p>
            <a:r>
              <a:rPr lang="en-US" b="1" dirty="0"/>
              <a:t>    </a:t>
            </a:r>
          </a:p>
          <a:p>
            <a:r>
              <a:rPr lang="en-US" dirty="0"/>
              <a:t>    Strong: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Customer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Employee </a:t>
            </a:r>
          </a:p>
          <a:p>
            <a:r>
              <a:rPr lang="en-US" dirty="0"/>
              <a:t>    Weak: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Order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Dependent</a:t>
            </a:r>
          </a:p>
        </p:txBody>
      </p:sp>
    </p:spTree>
    <p:extLst>
      <p:ext uri="{BB962C8B-B14F-4D97-AF65-F5344CB8AC3E}">
        <p14:creationId xmlns:p14="http://schemas.microsoft.com/office/powerpoint/2010/main" val="1489629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Applications</a:t>
            </a:r>
          </a:p>
          <a:p>
            <a:r>
              <a:rPr lang="en-US" dirty="0"/>
              <a:t>Banking </a:t>
            </a:r>
          </a:p>
          <a:p>
            <a:r>
              <a:rPr lang="en-US" dirty="0"/>
              <a:t>Hospital </a:t>
            </a:r>
          </a:p>
          <a:p>
            <a:r>
              <a:rPr lang="en-US" dirty="0"/>
              <a:t>E-Commerce </a:t>
            </a:r>
          </a:p>
          <a:p>
            <a:r>
              <a:rPr lang="en-US" dirty="0"/>
              <a:t>Library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Key Takeaways</a:t>
            </a:r>
          </a:p>
          <a:p>
            <a:r>
              <a:rPr lang="en-US" dirty="0"/>
              <a:t>Strong Entity → Independent </a:t>
            </a:r>
          </a:p>
          <a:p>
            <a:r>
              <a:rPr lang="en-US" dirty="0"/>
              <a:t>Weak Entity → Dependent </a:t>
            </a:r>
          </a:p>
          <a:p>
            <a:r>
              <a:rPr lang="en-US" dirty="0"/>
              <a:t>Essential for ER Modeling </a:t>
            </a:r>
          </a:p>
          <a:p>
            <a:r>
              <a:rPr lang="en-US" dirty="0"/>
              <a:t>Improves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2623371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731</Words>
  <Application>Microsoft Office PowerPoint</Application>
  <PresentationFormat>Widescreen</PresentationFormat>
  <Paragraphs>197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Database Management Systems (CO1 Assessment Tool 3) TECHNICAL PRESENTATION</vt:lpstr>
      <vt:lpstr>Q1: ER Diagram for Online Library System</vt:lpstr>
      <vt:lpstr>ER Diagram</vt:lpstr>
      <vt:lpstr>Database Design</vt:lpstr>
      <vt:lpstr>CASE STUDY: NATIONAL DIGITAL LIBRARY OF INDIA (NDLI)</vt:lpstr>
      <vt:lpstr>Q2: Enhanced ER Model</vt:lpstr>
      <vt:lpstr>ER Model vs Enhanced ER (EER) Model</vt:lpstr>
      <vt:lpstr>EER Diagram</vt:lpstr>
      <vt:lpstr>Advantages &amp; Applications</vt:lpstr>
      <vt:lpstr>QUESTION 3: Data Independence </vt:lpstr>
      <vt:lpstr>ANSI/SPARC Architecture</vt:lpstr>
      <vt:lpstr>Logical vs Physical</vt:lpstr>
      <vt:lpstr>Applications</vt:lpstr>
      <vt:lpstr>QUESTION 4: Software Components of DBMS</vt:lpstr>
      <vt:lpstr>ER DIAGRAM</vt:lpstr>
      <vt:lpstr>DBMS MODULE</vt:lpstr>
      <vt:lpstr>INDUSTRIAL ARCHITECTURE</vt:lpstr>
      <vt:lpstr>QUESTION 5: Strong Entity vs Weak Entity</vt:lpstr>
      <vt:lpstr>ER DIAGRAM</vt:lpstr>
      <vt:lpstr>COMPARISION</vt:lpstr>
      <vt:lpstr>APPLICATIONS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dilip kumar</cp:lastModifiedBy>
  <cp:revision>4</cp:revision>
  <dcterms:created xsi:type="dcterms:W3CDTF">2026-07-23T05:31:33Z</dcterms:created>
  <dcterms:modified xsi:type="dcterms:W3CDTF">2026-07-23T06:14:30Z</dcterms:modified>
</cp:coreProperties>
</file>